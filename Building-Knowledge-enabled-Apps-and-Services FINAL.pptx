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372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4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3199" y="1845826"/>
            <a:ext cx="7477601" cy="24995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561"/>
              </a:lnSpc>
              <a:buNone/>
            </a:pPr>
            <a:r>
              <a:rPr lang="en-US" sz="5249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Building Knowledge-enabled Apps and Services</a:t>
            </a:r>
            <a:endParaRPr lang="en-US" sz="5249" dirty="0"/>
          </a:p>
        </p:txBody>
      </p:sp>
      <p:sp>
        <p:nvSpPr>
          <p:cNvPr id="5" name="Text 3"/>
          <p:cNvSpPr/>
          <p:nvPr/>
        </p:nvSpPr>
        <p:spPr>
          <a:xfrm>
            <a:off x="833199" y="4678680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Welcome to the world of knowledge-enabled apps and services! Explore the enormous potential and benefits of leveraging knowledge in your applications to deliver exceptional user experiences.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11781" y="6006346"/>
            <a:ext cx="198120" cy="3657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880"/>
              </a:lnSpc>
              <a:buNone/>
            </a:pPr>
            <a:endParaRPr lang="en-US" sz="1152" dirty="0"/>
          </a:p>
        </p:txBody>
      </p:sp>
      <p:sp>
        <p:nvSpPr>
          <p:cNvPr id="8" name="Text 6"/>
          <p:cNvSpPr/>
          <p:nvPr/>
        </p:nvSpPr>
        <p:spPr>
          <a:xfrm>
            <a:off x="1299686" y="5994797"/>
            <a:ext cx="2095500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endParaRPr lang="en-US" sz="2187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7745" y="25198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319599" y="2698595"/>
            <a:ext cx="7477601" cy="14108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are Knowledge-enabled Apps and Services?</a:t>
            </a:r>
          </a:p>
          <a:p>
            <a:pPr marL="0" indent="0">
              <a:lnSpc>
                <a:spcPts val="5468"/>
              </a:lnSpc>
              <a:buNone/>
            </a:pPr>
            <a:endParaRPr lang="en-US" sz="4374" dirty="0">
              <a:solidFill>
                <a:srgbClr val="60A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6319598" y="5122923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Knowledge-enabled apps and services are cutting-edge solutions that leverage advanced technologies to integrate knowledge into various applications, enhancing decision-making, automation, and user interactions.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44959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305907" y="601028"/>
            <a:ext cx="7504986" cy="1365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378"/>
              </a:lnSpc>
              <a:buNone/>
            </a:pPr>
            <a:r>
              <a:rPr lang="en-US" sz="430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Importance of Knowledge-enabled Apps and Services</a:t>
            </a:r>
            <a:endParaRPr lang="en-US" sz="4302" dirty="0"/>
          </a:p>
        </p:txBody>
      </p:sp>
      <p:sp>
        <p:nvSpPr>
          <p:cNvPr id="5" name="Shape 3"/>
          <p:cNvSpPr/>
          <p:nvPr/>
        </p:nvSpPr>
        <p:spPr>
          <a:xfrm>
            <a:off x="6305907" y="2465427"/>
            <a:ext cx="491728" cy="491728"/>
          </a:xfrm>
          <a:prstGeom prst="roundRect">
            <a:avLst>
              <a:gd name="adj" fmla="val 26668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83191" y="2506385"/>
            <a:ext cx="137160" cy="4096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27"/>
              </a:lnSpc>
              <a:buNone/>
            </a:pPr>
            <a:r>
              <a:rPr lang="en-US" sz="258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581" dirty="0"/>
          </a:p>
        </p:txBody>
      </p:sp>
      <p:sp>
        <p:nvSpPr>
          <p:cNvPr id="7" name="Text 5"/>
          <p:cNvSpPr/>
          <p:nvPr/>
        </p:nvSpPr>
        <p:spPr>
          <a:xfrm>
            <a:off x="7016115" y="2540556"/>
            <a:ext cx="2933105" cy="698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89"/>
              </a:lnSpc>
              <a:buNone/>
            </a:pPr>
            <a:r>
              <a:rPr lang="en-US" sz="215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Informed Decision-making </a:t>
            </a:r>
            <a:r>
              <a:rPr lang="en-US" sz="215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endParaRPr lang="en-US" sz="2151" dirty="0"/>
          </a:p>
        </p:txBody>
      </p:sp>
      <p:sp>
        <p:nvSpPr>
          <p:cNvPr id="8" name="Text 6"/>
          <p:cNvSpPr/>
          <p:nvPr/>
        </p:nvSpPr>
        <p:spPr>
          <a:xfrm>
            <a:off x="7016115" y="3457218"/>
            <a:ext cx="2933105" cy="2098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53"/>
              </a:lnSpc>
              <a:buNone/>
            </a:pPr>
            <a:r>
              <a:rPr lang="en-US" sz="172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to relevant information empowers users to make better decisions faster, driving efficient business processes and improved outcomes.</a:t>
            </a:r>
            <a:endParaRPr lang="en-US" sz="1721" dirty="0"/>
          </a:p>
        </p:txBody>
      </p:sp>
      <p:sp>
        <p:nvSpPr>
          <p:cNvPr id="9" name="Shape 7"/>
          <p:cNvSpPr/>
          <p:nvPr/>
        </p:nvSpPr>
        <p:spPr>
          <a:xfrm>
            <a:off x="10167699" y="2465427"/>
            <a:ext cx="491728" cy="491728"/>
          </a:xfrm>
          <a:prstGeom prst="roundRect">
            <a:avLst>
              <a:gd name="adj" fmla="val 26668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322123" y="2506385"/>
            <a:ext cx="182880" cy="4096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27"/>
              </a:lnSpc>
              <a:buNone/>
            </a:pPr>
            <a:r>
              <a:rPr lang="en-US" sz="258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581" dirty="0"/>
          </a:p>
        </p:txBody>
      </p:sp>
      <p:sp>
        <p:nvSpPr>
          <p:cNvPr id="11" name="Text 9"/>
          <p:cNvSpPr/>
          <p:nvPr/>
        </p:nvSpPr>
        <p:spPr>
          <a:xfrm>
            <a:off x="10877907" y="2540556"/>
            <a:ext cx="2727960" cy="35671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89"/>
              </a:lnSpc>
              <a:buNone/>
            </a:pPr>
            <a:r>
              <a:rPr lang="en-US" sz="215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Engagement </a:t>
            </a:r>
            <a:r>
              <a:rPr lang="en-US" sz="215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🤝</a:t>
            </a:r>
            <a:endParaRPr lang="en-US" sz="2151" dirty="0"/>
          </a:p>
        </p:txBody>
      </p:sp>
      <p:sp>
        <p:nvSpPr>
          <p:cNvPr id="12" name="Text 10"/>
          <p:cNvSpPr/>
          <p:nvPr/>
        </p:nvSpPr>
        <p:spPr>
          <a:xfrm>
            <a:off x="10877907" y="3115747"/>
            <a:ext cx="2933105" cy="17484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53"/>
              </a:lnSpc>
              <a:buNone/>
            </a:pPr>
            <a:r>
              <a:rPr lang="en-US" sz="172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delivering personalized and insightful experiences, knowledge-enabled apps and services promote higher user engagement and satisfaction.</a:t>
            </a:r>
            <a:endParaRPr lang="en-US" sz="1721" dirty="0"/>
          </a:p>
        </p:txBody>
      </p:sp>
      <p:sp>
        <p:nvSpPr>
          <p:cNvPr id="13" name="Shape 11"/>
          <p:cNvSpPr/>
          <p:nvPr/>
        </p:nvSpPr>
        <p:spPr>
          <a:xfrm>
            <a:off x="6305907" y="5944553"/>
            <a:ext cx="491728" cy="491728"/>
          </a:xfrm>
          <a:prstGeom prst="roundRect">
            <a:avLst>
              <a:gd name="adj" fmla="val 26668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64141" y="5985510"/>
            <a:ext cx="175260" cy="4096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27"/>
              </a:lnSpc>
              <a:buNone/>
            </a:pPr>
            <a:r>
              <a:rPr lang="en-US" sz="258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581" dirty="0"/>
          </a:p>
        </p:txBody>
      </p:sp>
      <p:sp>
        <p:nvSpPr>
          <p:cNvPr id="15" name="Text 13"/>
          <p:cNvSpPr/>
          <p:nvPr/>
        </p:nvSpPr>
        <p:spPr>
          <a:xfrm>
            <a:off x="7016115" y="6019681"/>
            <a:ext cx="3451860" cy="35671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89"/>
              </a:lnSpc>
              <a:buNone/>
            </a:pPr>
            <a:r>
              <a:rPr lang="en-US" sz="2151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Competitive Advantage </a:t>
            </a:r>
            <a:r>
              <a:rPr lang="en-US" sz="215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🏆</a:t>
            </a:r>
            <a:endParaRPr lang="en-US" sz="2151" dirty="0"/>
          </a:p>
        </p:txBody>
      </p:sp>
      <p:sp>
        <p:nvSpPr>
          <p:cNvPr id="16" name="Text 14"/>
          <p:cNvSpPr/>
          <p:nvPr/>
        </p:nvSpPr>
        <p:spPr>
          <a:xfrm>
            <a:off x="7016115" y="6594872"/>
            <a:ext cx="6794778" cy="1049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53"/>
              </a:lnSpc>
              <a:buNone/>
            </a:pPr>
            <a:r>
              <a:rPr lang="en-US" sz="172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Integrating knowledge into your applications sets you apart from competitors, enabling innovation, efficiency, and differentiation in the market.</a:t>
            </a:r>
            <a:endParaRPr lang="en-US" sz="1721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449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37993" y="1271230"/>
            <a:ext cx="10554414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Examples of Knowledge-enabled Apps and Services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3215402"/>
            <a:ext cx="2865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Virtual Assistants</a:t>
            </a:r>
            <a:endParaRPr lang="en-US" sz="2624" dirty="0"/>
          </a:p>
        </p:txBody>
      </p:sp>
      <p:sp>
        <p:nvSpPr>
          <p:cNvPr id="6" name="Text 4"/>
          <p:cNvSpPr/>
          <p:nvPr/>
        </p:nvSpPr>
        <p:spPr>
          <a:xfrm>
            <a:off x="2037993" y="3854053"/>
            <a:ext cx="315634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assistants, like Siri and Alexa, utilize knowledge bases and machine learning algorithms to understand natural language queries and provide intelligent responses.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43932" y="3215402"/>
            <a:ext cx="3156347" cy="8329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 Systems</a:t>
            </a:r>
            <a:endParaRPr lang="en-US" sz="2624" dirty="0"/>
          </a:p>
        </p:txBody>
      </p:sp>
      <p:sp>
        <p:nvSpPr>
          <p:cNvPr id="8" name="Text 6"/>
          <p:cNvSpPr/>
          <p:nvPr/>
        </p:nvSpPr>
        <p:spPr>
          <a:xfrm>
            <a:off x="5743932" y="4270534"/>
            <a:ext cx="3156347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Recommendation systems, such as those used by Netflix and Amazon, leverage knowledge about user preferences to suggest personalized content and products.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215402"/>
            <a:ext cx="2666286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Chatbots</a:t>
            </a:r>
            <a:endParaRPr lang="en-US" sz="2624" dirty="0"/>
          </a:p>
        </p:txBody>
      </p:sp>
      <p:sp>
        <p:nvSpPr>
          <p:cNvPr id="10" name="Text 8"/>
          <p:cNvSpPr/>
          <p:nvPr/>
        </p:nvSpPr>
        <p:spPr>
          <a:xfrm>
            <a:off x="9449872" y="3854053"/>
            <a:ext cx="315634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Chatbots incorporate knowledge frameworks and natural language processing to interact with users, answer questions, and facilitate automated customer support.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48531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87956" y="577810"/>
            <a:ext cx="7568089" cy="19698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171"/>
              </a:lnSpc>
              <a:buNone/>
            </a:pPr>
            <a:r>
              <a:rPr lang="en-US" sz="4137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Benefits of Building Knowledge-enabled Apps and Services</a:t>
            </a:r>
            <a:endParaRPr lang="en-US" sz="4137" dirty="0"/>
          </a:p>
        </p:txBody>
      </p:sp>
      <p:sp>
        <p:nvSpPr>
          <p:cNvPr id="5" name="Shape 3"/>
          <p:cNvSpPr/>
          <p:nvPr/>
        </p:nvSpPr>
        <p:spPr>
          <a:xfrm>
            <a:off x="787956" y="3026926"/>
            <a:ext cx="472797" cy="472797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59525" y="3066336"/>
            <a:ext cx="129540" cy="393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2"/>
              </a:lnSpc>
              <a:buNone/>
            </a:pPr>
            <a:r>
              <a:rPr lang="en-US" sz="248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482" dirty="0"/>
          </a:p>
        </p:txBody>
      </p:sp>
      <p:sp>
        <p:nvSpPr>
          <p:cNvPr id="7" name="Text 5"/>
          <p:cNvSpPr/>
          <p:nvPr/>
        </p:nvSpPr>
        <p:spPr>
          <a:xfrm>
            <a:off x="1470779" y="3099197"/>
            <a:ext cx="2996208" cy="6717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85"/>
              </a:lnSpc>
              <a:buNone/>
            </a:pPr>
            <a:r>
              <a:rPr lang="en-US" sz="2068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Enhanced User Experience </a:t>
            </a:r>
            <a:r>
              <a:rPr lang="en-US" sz="2068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🌟</a:t>
            </a:r>
            <a:endParaRPr lang="en-US" sz="2068" dirty="0"/>
          </a:p>
        </p:txBody>
      </p:sp>
      <p:sp>
        <p:nvSpPr>
          <p:cNvPr id="8" name="Text 6"/>
          <p:cNvSpPr/>
          <p:nvPr/>
        </p:nvSpPr>
        <p:spPr>
          <a:xfrm>
            <a:off x="1470779" y="3980974"/>
            <a:ext cx="2996208" cy="2017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47"/>
              </a:lnSpc>
              <a:buNone/>
            </a:pPr>
            <a:r>
              <a:rPr lang="en-US" sz="1655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providing personalized recommendations, intelligent insights, and proactive assistance, knowledge-enabled apps create delightful user experiences.</a:t>
            </a:r>
            <a:endParaRPr lang="en-US" sz="1655" dirty="0"/>
          </a:p>
        </p:txBody>
      </p:sp>
      <p:sp>
        <p:nvSpPr>
          <p:cNvPr id="9" name="Shape 7"/>
          <p:cNvSpPr/>
          <p:nvPr/>
        </p:nvSpPr>
        <p:spPr>
          <a:xfrm>
            <a:off x="4677013" y="3026926"/>
            <a:ext cx="472797" cy="472797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25722" y="3066336"/>
            <a:ext cx="175260" cy="393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2"/>
              </a:lnSpc>
              <a:buNone/>
            </a:pPr>
            <a:r>
              <a:rPr lang="en-US" sz="248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482" dirty="0"/>
          </a:p>
        </p:txBody>
      </p:sp>
      <p:sp>
        <p:nvSpPr>
          <p:cNvPr id="11" name="Text 9"/>
          <p:cNvSpPr/>
          <p:nvPr/>
        </p:nvSpPr>
        <p:spPr>
          <a:xfrm>
            <a:off x="5359837" y="3099197"/>
            <a:ext cx="2948940" cy="3434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85"/>
              </a:lnSpc>
              <a:buNone/>
            </a:pPr>
            <a:r>
              <a:rPr lang="en-US" sz="2068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Increased Efficiency </a:t>
            </a:r>
            <a:r>
              <a:rPr lang="en-US" sz="2068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⚡</a:t>
            </a:r>
            <a:r>
              <a:rPr lang="en-US" sz="2068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️</a:t>
            </a:r>
            <a:endParaRPr lang="en-US" sz="2068" dirty="0"/>
          </a:p>
        </p:txBody>
      </p:sp>
      <p:sp>
        <p:nvSpPr>
          <p:cNvPr id="12" name="Text 10"/>
          <p:cNvSpPr/>
          <p:nvPr/>
        </p:nvSpPr>
        <p:spPr>
          <a:xfrm>
            <a:off x="5359837" y="3652718"/>
            <a:ext cx="2996208" cy="2017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47"/>
              </a:lnSpc>
              <a:buNone/>
            </a:pPr>
            <a:r>
              <a:rPr lang="en-US" sz="1655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Automating complex processes, leveraging contextual knowledge, and reducing manual efforts lead to improved operational efficiency.</a:t>
            </a:r>
            <a:endParaRPr lang="en-US" sz="1655" dirty="0"/>
          </a:p>
        </p:txBody>
      </p:sp>
      <p:sp>
        <p:nvSpPr>
          <p:cNvPr id="13" name="Shape 11"/>
          <p:cNvSpPr/>
          <p:nvPr/>
        </p:nvSpPr>
        <p:spPr>
          <a:xfrm>
            <a:off x="787956" y="6372463"/>
            <a:ext cx="472797" cy="472797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40475" y="6411873"/>
            <a:ext cx="167640" cy="3938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2"/>
              </a:lnSpc>
              <a:buNone/>
            </a:pPr>
            <a:r>
              <a:rPr lang="en-US" sz="2482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482" dirty="0"/>
          </a:p>
        </p:txBody>
      </p:sp>
      <p:sp>
        <p:nvSpPr>
          <p:cNvPr id="15" name="Text 13"/>
          <p:cNvSpPr/>
          <p:nvPr/>
        </p:nvSpPr>
        <p:spPr>
          <a:xfrm>
            <a:off x="1470779" y="6444734"/>
            <a:ext cx="4975860" cy="34349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85"/>
              </a:lnSpc>
              <a:buNone/>
            </a:pPr>
            <a:r>
              <a:rPr lang="en-US" sz="2068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Improved Accuracy and Consistency </a:t>
            </a:r>
            <a:r>
              <a:rPr lang="en-US" sz="2068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🎯</a:t>
            </a:r>
            <a:endParaRPr lang="en-US" sz="2068" dirty="0"/>
          </a:p>
        </p:txBody>
      </p:sp>
      <p:sp>
        <p:nvSpPr>
          <p:cNvPr id="16" name="Text 14"/>
          <p:cNvSpPr/>
          <p:nvPr/>
        </p:nvSpPr>
        <p:spPr>
          <a:xfrm>
            <a:off x="1470779" y="6998256"/>
            <a:ext cx="6885265" cy="6724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47"/>
              </a:lnSpc>
              <a:buNone/>
            </a:pPr>
            <a:r>
              <a:rPr lang="en-US" sz="1655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Through knowledge-driven automation, apps ensure consistency, minimize errors, and deliver accurate results.</a:t>
            </a:r>
            <a:endParaRPr lang="en-US" sz="1655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48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3199" y="1790224"/>
            <a:ext cx="7477601" cy="2083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 in Building Knowledge-enabled Apps and Services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833199" y="4380190"/>
            <a:ext cx="499943" cy="499943"/>
          </a:xfrm>
          <a:prstGeom prst="roundRect">
            <a:avLst>
              <a:gd name="adj" fmla="val 26667"/>
            </a:avLst>
          </a:prstGeom>
          <a:solidFill>
            <a:srgbClr val="161B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14532" y="4421862"/>
            <a:ext cx="13716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1555313" y="4456509"/>
            <a:ext cx="6755487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60A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Integrating with Existing Systems and Technologies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1555313" y="5373053"/>
            <a:ext cx="6755487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Integrating knowledge-enabled functionality seamlessly with existing systems and technologies can pose challenges in terms of compatibility and data synchronization.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37993" y="3215402"/>
            <a:ext cx="286512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endParaRPr lang="en-US" sz="2624" dirty="0"/>
          </a:p>
        </p:txBody>
      </p:sp>
      <p:sp>
        <p:nvSpPr>
          <p:cNvPr id="6" name="Text 4"/>
          <p:cNvSpPr/>
          <p:nvPr/>
        </p:nvSpPr>
        <p:spPr>
          <a:xfrm>
            <a:off x="2037993" y="3854053"/>
            <a:ext cx="315634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743932" y="4270534"/>
            <a:ext cx="3156347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49872" y="3215402"/>
            <a:ext cx="2666286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endParaRPr lang="en-US" sz="2624" dirty="0"/>
          </a:p>
        </p:txBody>
      </p:sp>
      <p:sp>
        <p:nvSpPr>
          <p:cNvPr id="10" name="Text 8"/>
          <p:cNvSpPr/>
          <p:nvPr/>
        </p:nvSpPr>
        <p:spPr>
          <a:xfrm>
            <a:off x="9449872" y="3854053"/>
            <a:ext cx="315634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35F9C2-E7DE-4897-B39E-28FDAE07C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942" y="1140605"/>
            <a:ext cx="8863101" cy="594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111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343</Words>
  <Application>Microsoft Office PowerPoint</Application>
  <PresentationFormat>Custom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Roboto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srujan</cp:lastModifiedBy>
  <cp:revision>2</cp:revision>
  <dcterms:created xsi:type="dcterms:W3CDTF">2023-09-12T16:05:42Z</dcterms:created>
  <dcterms:modified xsi:type="dcterms:W3CDTF">2023-09-12T16:12:20Z</dcterms:modified>
</cp:coreProperties>
</file>